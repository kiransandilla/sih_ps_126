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Backup problem statement for Team HACKTIDE (PS 26126, BEL).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slide: the loop, the contrast with the standard camera-&gt;YOLO-&gt;SLAM-&gt;A* chain, the five innovations and the safety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perception and localisation run in parallel and feed one risk map; the governor closes the loop from perception quality back into planning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matches the earlier deck's structure: technologies, feasibility, risks,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 structured like the earlier deck: impact areas, program impacts, target audience, who gains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mirror the literature review; video and GitHub links to be inserted by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kiransandilla/SIH_PS_126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"/>
            <a:ext cx="1691640" cy="8046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4" name="Image 1" descr="/Users/sandillakiran/SIH-126/slides/assets/p1_img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2926080" cy="31272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2004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26126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320040" y="180136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BASED AUTONOMOUS NAVIGATION FOR UNMANNED GROUND VEHICLE FOR OUTDOOR ENVIRONMENT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320040" y="26060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0040" y="30815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0040" y="35570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137858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0040" y="40325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8016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66160" y="45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DRISHTI-Nav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5303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 •  Assess  •  Adapt  —  camera-only navigation that knows how much to trust its own eyes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74980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closed loop: perceive terrain, score risk and uncertainty, localise without GPS, replan on change, reach B safely.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28600" y="1024128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0040" y="1024128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AUTONOMY LOOP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28600" y="1298448"/>
            <a:ext cx="8686800" cy="1207008"/>
          </a:xfrm>
          <a:prstGeom prst="roundRect">
            <a:avLst>
              <a:gd name="adj" fmla="val 3788"/>
            </a:avLst>
          </a:prstGeom>
          <a:solidFill>
            <a:srgbClr val="F7F9FD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48132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1556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1556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segmentation labels grass, dirt, gravel, mud, rock, tree, ditch.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132588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2217420" y="137160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148" y="1481328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55574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55574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19"/>
          <p:cNvSpPr txBox="1"/>
          <p:nvPr/>
        </p:nvSpPr>
        <p:spPr>
          <a:xfrm>
            <a:off x="180594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80594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 flags unknown pixels; a learned regressor rates frame confidence.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276606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657600" y="1371600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1481328"/>
            <a:ext cx="237744" cy="23774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99592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99592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25"/>
          <p:cNvSpPr txBox="1"/>
          <p:nvPr/>
        </p:nvSpPr>
        <p:spPr>
          <a:xfrm>
            <a:off x="324612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Localise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324612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/ SLAM + wheel odometry; tracking health monitored.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420624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097780" y="1371600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508" y="1481328"/>
            <a:ext cx="237744" cy="23774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43610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43610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9" name="Text 31"/>
          <p:cNvSpPr txBox="1"/>
          <p:nvPr/>
        </p:nvSpPr>
        <p:spPr>
          <a:xfrm>
            <a:off x="468630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468630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risk map 0–100 per cell: terrain, geometry, obstacle, unknown, staleness.</a:t>
            </a:r>
            <a:endParaRPr lang="en-US" sz="700" dirty="0"/>
          </a:p>
        </p:txBody>
      </p:sp>
      <p:sp>
        <p:nvSpPr>
          <p:cNvPr id="41" name="Shape 33"/>
          <p:cNvSpPr/>
          <p:nvPr/>
        </p:nvSpPr>
        <p:spPr>
          <a:xfrm>
            <a:off x="564642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6537960" y="13716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1481328"/>
            <a:ext cx="237744" cy="237744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687628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87628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6" name="Text 37"/>
          <p:cNvSpPr txBox="1"/>
          <p:nvPr/>
        </p:nvSpPr>
        <p:spPr>
          <a:xfrm>
            <a:off x="612648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612648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 risk cost fires on events; local arc planner at 10 Hz.</a:t>
            </a:r>
            <a:endParaRPr lang="en-US" sz="700" dirty="0"/>
          </a:p>
        </p:txBody>
      </p:sp>
      <p:sp>
        <p:nvSpPr>
          <p:cNvPr id="48" name="Shape 39"/>
          <p:cNvSpPr/>
          <p:nvPr/>
        </p:nvSpPr>
        <p:spPr>
          <a:xfrm>
            <a:off x="708660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7978140" y="13716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7868" y="1481328"/>
            <a:ext cx="237744" cy="237744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831646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831646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53" name="Text 43"/>
          <p:cNvSpPr txBox="1"/>
          <p:nvPr/>
        </p:nvSpPr>
        <p:spPr>
          <a:xfrm>
            <a:off x="756666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950" dirty="0"/>
          </a:p>
        </p:txBody>
      </p:sp>
      <p:sp>
        <p:nvSpPr>
          <p:cNvPr id="54" name="Text 44"/>
          <p:cNvSpPr txBox="1"/>
          <p:nvPr/>
        </p:nvSpPr>
        <p:spPr>
          <a:xfrm>
            <a:off x="756666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 sets speed and margins from confidence; controller drives the UGV.</a:t>
            </a:r>
            <a:endParaRPr lang="en-US" sz="700" dirty="0"/>
          </a:p>
        </p:txBody>
      </p:sp>
      <p:sp>
        <p:nvSpPr>
          <p:cNvPr id="55" name="Shape 45"/>
          <p:cNvSpPr/>
          <p:nvPr/>
        </p:nvSpPr>
        <p:spPr>
          <a:xfrm>
            <a:off x="228600" y="2615184"/>
            <a:ext cx="361188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320040" y="26151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 VS DRISHTI-NAV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228600" y="2889504"/>
            <a:ext cx="1737360" cy="1847088"/>
          </a:xfrm>
          <a:prstGeom prst="roundRect">
            <a:avLst>
              <a:gd name="adj" fmla="val 2632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320040" y="29260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</a:t>
            </a:r>
            <a:endParaRPr lang="en-US" sz="9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3182112"/>
            <a:ext cx="118872" cy="11887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475488" y="3154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free / blocked map</a:t>
            </a:r>
            <a:endParaRPr lang="en-US" sz="72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3438144"/>
            <a:ext cx="118872" cy="118872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475488" y="34107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 at full speed</a:t>
            </a:r>
            <a:endParaRPr lang="en-US" sz="72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694176"/>
            <a:ext cx="118872" cy="118872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475488" y="36667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'Not detected' treated as safe</a:t>
            </a:r>
            <a:endParaRPr lang="en-US" sz="720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3950208"/>
            <a:ext cx="118872" cy="118872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475488" y="3922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to lighting changes</a:t>
            </a:r>
            <a:endParaRPr lang="en-US" sz="72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4206240"/>
            <a:ext cx="118872" cy="118872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475488" y="4178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replan every frame</a:t>
            </a:r>
            <a:endParaRPr lang="en-US" sz="720" dirty="0"/>
          </a:p>
        </p:txBody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462272"/>
            <a:ext cx="118872" cy="118872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75488" y="4434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measure of self-trust</a:t>
            </a:r>
            <a:endParaRPr lang="en-US" sz="720" dirty="0"/>
          </a:p>
        </p:txBody>
      </p:sp>
      <p:sp>
        <p:nvSpPr>
          <p:cNvPr id="71" name="Shape 55"/>
          <p:cNvSpPr/>
          <p:nvPr/>
        </p:nvSpPr>
        <p:spPr>
          <a:xfrm>
            <a:off x="1993392" y="3703320"/>
            <a:ext cx="219456" cy="219456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2" name="Text 56"/>
          <p:cNvSpPr txBox="1"/>
          <p:nvPr/>
        </p:nvSpPr>
        <p:spPr>
          <a:xfrm>
            <a:off x="1993392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73" name="Shape 57"/>
          <p:cNvSpPr/>
          <p:nvPr/>
        </p:nvSpPr>
        <p:spPr>
          <a:xfrm>
            <a:off x="2240280" y="2889504"/>
            <a:ext cx="1600200" cy="1847088"/>
          </a:xfrm>
          <a:prstGeom prst="roundRect">
            <a:avLst>
              <a:gd name="adj" fmla="val 2857"/>
            </a:avLst>
          </a:prstGeom>
          <a:solidFill>
            <a:srgbClr val="EAF6EC"/>
          </a:solidFill>
          <a:ln w="9525">
            <a:solidFill>
              <a:srgbClr val="BFE3C5"/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2331720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DRISHTI-Nav</a:t>
            </a:r>
            <a:endParaRPr lang="en-US" sz="900" dirty="0"/>
          </a:p>
        </p:txBody>
      </p:sp>
      <p:pic>
        <p:nvPicPr>
          <p:cNvPr id="7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1720" y="3182112"/>
            <a:ext cx="118872" cy="118872"/>
          </a:xfrm>
          <a:prstGeom prst="rect">
            <a:avLst/>
          </a:prstGeom>
        </p:spPr>
      </p:pic>
      <p:sp>
        <p:nvSpPr>
          <p:cNvPr id="76" name="Text 59"/>
          <p:cNvSpPr txBox="1"/>
          <p:nvPr/>
        </p:nvSpPr>
        <p:spPr>
          <a:xfrm>
            <a:off x="2487168" y="3154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 field (0–100)</a:t>
            </a:r>
            <a:endParaRPr lang="en-US" sz="720" dirty="0"/>
          </a:p>
        </p:txBody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1720" y="3438144"/>
            <a:ext cx="118872" cy="118872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2487168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route, not just shorter</a:t>
            </a:r>
            <a:endParaRPr lang="en-US" sz="72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1720" y="3694176"/>
            <a:ext cx="118872" cy="118872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2487168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uncertain → avoid</a:t>
            </a:r>
            <a:endParaRPr lang="en-US" sz="720" dirty="0"/>
          </a:p>
        </p:txBody>
      </p:sp>
      <p:pic>
        <p:nvPicPr>
          <p:cNvPr id="8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1720" y="3950208"/>
            <a:ext cx="118872" cy="118872"/>
          </a:xfrm>
          <a:prstGeom prst="rect">
            <a:avLst/>
          </a:prstGeom>
        </p:spPr>
      </p:pic>
      <p:sp>
        <p:nvSpPr>
          <p:cNvPr id="82" name="Text 62"/>
          <p:cNvSpPr txBox="1"/>
          <p:nvPr/>
        </p:nvSpPr>
        <p:spPr>
          <a:xfrm>
            <a:off x="2487168" y="3922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Confidence-aware speed &amp; margin</a:t>
            </a:r>
            <a:endParaRPr lang="en-US" sz="720" dirty="0"/>
          </a:p>
        </p:txBody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31720" y="4206240"/>
            <a:ext cx="118872" cy="118872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2487168" y="4178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replanning</a:t>
            </a:r>
            <a:endParaRPr lang="en-US" sz="720" dirty="0"/>
          </a:p>
        </p:txBody>
      </p:sp>
      <p:pic>
        <p:nvPicPr>
          <p:cNvPr id="8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31720" y="4462272"/>
            <a:ext cx="118872" cy="118872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2487168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health → recovery</a:t>
            </a:r>
            <a:endParaRPr lang="en-US" sz="720" dirty="0"/>
          </a:p>
        </p:txBody>
      </p:sp>
      <p:sp>
        <p:nvSpPr>
          <p:cNvPr id="87" name="Shape 65"/>
          <p:cNvSpPr/>
          <p:nvPr/>
        </p:nvSpPr>
        <p:spPr>
          <a:xfrm>
            <a:off x="3977640" y="261518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88" name="Text 66"/>
          <p:cNvSpPr txBox="1"/>
          <p:nvPr/>
        </p:nvSpPr>
        <p:spPr>
          <a:xfrm>
            <a:off x="4069080" y="26151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900" dirty="0"/>
          </a:p>
        </p:txBody>
      </p:sp>
      <p:sp>
        <p:nvSpPr>
          <p:cNvPr id="89" name="Shape 67"/>
          <p:cNvSpPr/>
          <p:nvPr/>
        </p:nvSpPr>
        <p:spPr>
          <a:xfrm>
            <a:off x="3977640" y="2889504"/>
            <a:ext cx="2743200" cy="184708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9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69080" y="2971800"/>
            <a:ext cx="182880" cy="182880"/>
          </a:xfrm>
          <a:prstGeom prst="rect">
            <a:avLst/>
          </a:prstGeom>
        </p:spPr>
      </p:pic>
      <p:sp>
        <p:nvSpPr>
          <p:cNvPr id="91" name="Text 68"/>
          <p:cNvSpPr txBox="1"/>
          <p:nvPr/>
        </p:nvSpPr>
        <p:spPr>
          <a:xfrm>
            <a:off x="4315968" y="2944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dynamic risk map</a:t>
            </a:r>
            <a:endParaRPr lang="en-US" sz="800" dirty="0"/>
          </a:p>
        </p:txBody>
      </p:sp>
      <p:sp>
        <p:nvSpPr>
          <p:cNvPr id="92" name="Text 69"/>
          <p:cNvSpPr txBox="1"/>
          <p:nvPr/>
        </p:nvSpPr>
        <p:spPr>
          <a:xfrm>
            <a:off x="4315968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+ geometry + obstacle + unknown fused per cell, updated every frame.</a:t>
            </a:r>
            <a:endParaRPr lang="en-US" sz="660" dirty="0"/>
          </a:p>
        </p:txBody>
      </p:sp>
      <p:pic>
        <p:nvPicPr>
          <p:cNvPr id="9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69080" y="3332988"/>
            <a:ext cx="182880" cy="182880"/>
          </a:xfrm>
          <a:prstGeom prst="rect">
            <a:avLst/>
          </a:prstGeom>
        </p:spPr>
      </p:pic>
      <p:sp>
        <p:nvSpPr>
          <p:cNvPr id="94" name="Text 70"/>
          <p:cNvSpPr txBox="1"/>
          <p:nvPr/>
        </p:nvSpPr>
        <p:spPr>
          <a:xfrm>
            <a:off x="4315968" y="33055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Unknown-aware perception</a:t>
            </a:r>
            <a:endParaRPr lang="en-US" sz="800" dirty="0"/>
          </a:p>
        </p:txBody>
      </p:sp>
      <p:sp>
        <p:nvSpPr>
          <p:cNvPr id="95" name="Text 71"/>
          <p:cNvSpPr txBox="1"/>
          <p:nvPr/>
        </p:nvSpPr>
        <p:spPr>
          <a:xfrm>
            <a:off x="4315968" y="34518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Energy-score OOD + 'novel' class: unfamiliar objects get risk, not a free pass.</a:t>
            </a:r>
            <a:endParaRPr lang="en-US" sz="660" dirty="0"/>
          </a:p>
        </p:txBody>
      </p:sp>
      <p:pic>
        <p:nvPicPr>
          <p:cNvPr id="9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69080" y="3694176"/>
            <a:ext cx="182880" cy="182880"/>
          </a:xfrm>
          <a:prstGeom prst="rect">
            <a:avLst/>
          </a:prstGeom>
        </p:spPr>
      </p:pic>
      <p:sp>
        <p:nvSpPr>
          <p:cNvPr id="97" name="Text 72"/>
          <p:cNvSpPr txBox="1"/>
          <p:nvPr/>
        </p:nvSpPr>
        <p:spPr>
          <a:xfrm>
            <a:off x="4315968" y="3666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Perception-confidence governor</a:t>
            </a:r>
            <a:endParaRPr lang="en-US" sz="800" dirty="0"/>
          </a:p>
        </p:txBody>
      </p:sp>
      <p:sp>
        <p:nvSpPr>
          <p:cNvPr id="98" name="Text 73"/>
          <p:cNvSpPr txBox="1"/>
          <p:nvPr/>
        </p:nvSpPr>
        <p:spPr>
          <a:xfrm>
            <a:off x="4315968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frame-quality score drives speed, safety margin and risk weight.</a:t>
            </a:r>
            <a:endParaRPr lang="en-US" sz="660" dirty="0"/>
          </a:p>
        </p:txBody>
      </p:sp>
      <p:pic>
        <p:nvPicPr>
          <p:cNvPr id="9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9080" y="4055364"/>
            <a:ext cx="182880" cy="182880"/>
          </a:xfrm>
          <a:prstGeom prst="rect">
            <a:avLst/>
          </a:prstGeom>
        </p:spPr>
      </p:pic>
      <p:sp>
        <p:nvSpPr>
          <p:cNvPr id="100" name="Text 74"/>
          <p:cNvSpPr txBox="1"/>
          <p:nvPr/>
        </p:nvSpPr>
        <p:spPr>
          <a:xfrm>
            <a:off x="4315968" y="40279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replanning</a:t>
            </a:r>
            <a:endParaRPr lang="en-US" sz="800" dirty="0"/>
          </a:p>
        </p:txBody>
      </p:sp>
      <p:sp>
        <p:nvSpPr>
          <p:cNvPr id="101" name="Text 75"/>
          <p:cNvSpPr txBox="1"/>
          <p:nvPr/>
        </p:nvSpPr>
        <p:spPr>
          <a:xfrm>
            <a:off x="4315968" y="41742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only when the path corridor changes; local arcs at 10 Hz.</a:t>
            </a:r>
            <a:endParaRPr lang="en-US" sz="660" dirty="0"/>
          </a:p>
        </p:txBody>
      </p:sp>
      <p:pic>
        <p:nvPicPr>
          <p:cNvPr id="10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9080" y="4416552"/>
            <a:ext cx="182880" cy="182880"/>
          </a:xfrm>
          <a:prstGeom prst="rect">
            <a:avLst/>
          </a:prstGeom>
        </p:spPr>
      </p:pic>
      <p:sp>
        <p:nvSpPr>
          <p:cNvPr id="103" name="Text 76"/>
          <p:cNvSpPr txBox="1"/>
          <p:nvPr/>
        </p:nvSpPr>
        <p:spPr>
          <a:xfrm>
            <a:off x="4315968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Lighting-adaptive behaviour</a:t>
            </a:r>
            <a:endParaRPr lang="en-US" sz="800" dirty="0"/>
          </a:p>
        </p:txBody>
      </p:sp>
      <p:sp>
        <p:nvSpPr>
          <p:cNvPr id="104" name="Text 77"/>
          <p:cNvSpPr txBox="1"/>
          <p:nvPr/>
        </p:nvSpPr>
        <p:spPr>
          <a:xfrm>
            <a:off x="4315968" y="45354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 / low light → lower confidence → conservative navigation.</a:t>
            </a:r>
            <a:endParaRPr lang="en-US" sz="660" dirty="0"/>
          </a:p>
        </p:txBody>
      </p:sp>
      <p:sp>
        <p:nvSpPr>
          <p:cNvPr id="105" name="Shape 78"/>
          <p:cNvSpPr/>
          <p:nvPr/>
        </p:nvSpPr>
        <p:spPr>
          <a:xfrm>
            <a:off x="6858000" y="2615184"/>
            <a:ext cx="20574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06" name="Text 79"/>
          <p:cNvSpPr txBox="1"/>
          <p:nvPr/>
        </p:nvSpPr>
        <p:spPr>
          <a:xfrm>
            <a:off x="6949440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DESIGN</a:t>
            </a:r>
            <a:endParaRPr lang="en-US" sz="900" dirty="0"/>
          </a:p>
        </p:txBody>
      </p:sp>
      <p:sp>
        <p:nvSpPr>
          <p:cNvPr id="107" name="Shape 80"/>
          <p:cNvSpPr/>
          <p:nvPr/>
        </p:nvSpPr>
        <p:spPr>
          <a:xfrm>
            <a:off x="6858000" y="2889504"/>
            <a:ext cx="2057400" cy="1847088"/>
          </a:xfrm>
          <a:prstGeom prst="roundRect">
            <a:avLst>
              <a:gd name="adj" fmla="val 2475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8" name="Shape 81"/>
          <p:cNvSpPr/>
          <p:nvPr/>
        </p:nvSpPr>
        <p:spPr>
          <a:xfrm>
            <a:off x="6967728" y="2980944"/>
            <a:ext cx="384048" cy="384048"/>
          </a:xfrm>
          <a:prstGeom prst="ellipse">
            <a:avLst/>
          </a:prstGeom>
          <a:solidFill>
            <a:srgbClr val="2F4BB5"/>
          </a:solidFill>
          <a:ln w="12700">
            <a:solidFill>
              <a:srgbClr val="2F4BB5"/>
            </a:solidFill>
            <a:prstDash val="solid"/>
          </a:ln>
        </p:spPr>
      </p:sp>
      <p:pic>
        <p:nvPicPr>
          <p:cNvPr id="10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59900" y="3073116"/>
            <a:ext cx="199705" cy="199705"/>
          </a:xfrm>
          <a:prstGeom prst="rect">
            <a:avLst/>
          </a:prstGeom>
        </p:spPr>
      </p:pic>
      <p:sp>
        <p:nvSpPr>
          <p:cNvPr id="110" name="Text 82"/>
          <p:cNvSpPr txBox="1"/>
          <p:nvPr/>
        </p:nvSpPr>
        <p:spPr>
          <a:xfrm>
            <a:off x="7406640" y="2990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Fail-safe autonomy</a:t>
            </a:r>
            <a:endParaRPr lang="en-US" sz="900" dirty="0"/>
          </a:p>
        </p:txBody>
      </p:sp>
      <p:sp>
        <p:nvSpPr>
          <p:cNvPr id="111" name="Text 83"/>
          <p:cNvSpPr txBox="1"/>
          <p:nvPr/>
        </p:nvSpPr>
        <p:spPr>
          <a:xfrm>
            <a:off x="740664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uncertainty has a response</a:t>
            </a:r>
            <a:endParaRPr lang="en-US" sz="650" dirty="0"/>
          </a:p>
        </p:txBody>
      </p:sp>
      <p:pic>
        <p:nvPicPr>
          <p:cNvPr id="11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67728" y="3456432"/>
            <a:ext cx="109728" cy="109728"/>
          </a:xfrm>
          <a:prstGeom prst="rect">
            <a:avLst/>
          </a:prstGeom>
        </p:spPr>
      </p:pic>
      <p:sp>
        <p:nvSpPr>
          <p:cNvPr id="113" name="Text 84"/>
          <p:cNvSpPr txBox="1"/>
          <p:nvPr/>
        </p:nvSpPr>
        <p:spPr>
          <a:xfrm>
            <a:off x="7132320" y="3429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cells carry risk, never 'free'</a:t>
            </a:r>
            <a:endParaRPr lang="en-US" sz="680" dirty="0"/>
          </a:p>
        </p:txBody>
      </p:sp>
      <p:pic>
        <p:nvPicPr>
          <p:cNvPr id="11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67728" y="3662172"/>
            <a:ext cx="109728" cy="109728"/>
          </a:xfrm>
          <a:prstGeom prst="rect">
            <a:avLst/>
          </a:prstGeom>
        </p:spPr>
      </p:pic>
      <p:sp>
        <p:nvSpPr>
          <p:cNvPr id="115" name="Text 85"/>
          <p:cNvSpPr txBox="1"/>
          <p:nvPr/>
        </p:nvSpPr>
        <p:spPr>
          <a:xfrm>
            <a:off x="7132320" y="36347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on lethal cell ahead</a:t>
            </a:r>
            <a:endParaRPr lang="en-US" sz="680" dirty="0"/>
          </a:p>
        </p:txBody>
      </p:sp>
      <p:pic>
        <p:nvPicPr>
          <p:cNvPr id="11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7728" y="3867912"/>
            <a:ext cx="109728" cy="109728"/>
          </a:xfrm>
          <a:prstGeom prst="rect">
            <a:avLst/>
          </a:prstGeom>
        </p:spPr>
      </p:pic>
      <p:sp>
        <p:nvSpPr>
          <p:cNvPr id="117" name="Text 86"/>
          <p:cNvSpPr txBox="1"/>
          <p:nvPr/>
        </p:nvSpPr>
        <p:spPr>
          <a:xfrm>
            <a:off x="713232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→ slow + wide margin</a:t>
            </a:r>
            <a:endParaRPr lang="en-US" sz="680" dirty="0"/>
          </a:p>
        </p:txBody>
      </p:sp>
      <p:pic>
        <p:nvPicPr>
          <p:cNvPr id="11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7728" y="4073652"/>
            <a:ext cx="109728" cy="109728"/>
          </a:xfrm>
          <a:prstGeom prst="rect">
            <a:avLst/>
          </a:prstGeom>
        </p:spPr>
      </p:pic>
      <p:sp>
        <p:nvSpPr>
          <p:cNvPr id="119" name="Text 87"/>
          <p:cNvSpPr txBox="1"/>
          <p:nvPr/>
        </p:nvSpPr>
        <p:spPr>
          <a:xfrm>
            <a:off x="7132320" y="40462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lost → hold, re-acquire</a:t>
            </a:r>
            <a:endParaRPr lang="en-US" sz="680" dirty="0"/>
          </a:p>
        </p:txBody>
      </p:sp>
      <p:pic>
        <p:nvPicPr>
          <p:cNvPr id="12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67728" y="4279392"/>
            <a:ext cx="109728" cy="109728"/>
          </a:xfrm>
          <a:prstGeom prst="rect">
            <a:avLst/>
          </a:prstGeom>
        </p:spPr>
      </p:pic>
      <p:sp>
        <p:nvSpPr>
          <p:cNvPr id="121" name="Text 88"/>
          <p:cNvSpPr txBox="1"/>
          <p:nvPr/>
        </p:nvSpPr>
        <p:spPr>
          <a:xfrm>
            <a:off x="713232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accumulates, no phantom stops</a:t>
            </a:r>
            <a:endParaRPr lang="en-US" sz="680" dirty="0"/>
          </a:p>
        </p:txBody>
      </p:sp>
      <p:pic>
        <p:nvPicPr>
          <p:cNvPr id="12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67728" y="4485132"/>
            <a:ext cx="109728" cy="109728"/>
          </a:xfrm>
          <a:prstGeom prst="rect">
            <a:avLst/>
          </a:prstGeom>
        </p:spPr>
      </p:pic>
      <p:sp>
        <p:nvSpPr>
          <p:cNvPr id="123" name="Text 89"/>
          <p:cNvSpPr txBox="1"/>
          <p:nvPr/>
        </p:nvSpPr>
        <p:spPr>
          <a:xfrm>
            <a:off x="7132320" y="44577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RGB-D / stereo, no GPS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AND ARCHITECTURE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28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86868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EAF1FB"/>
          </a:solidFill>
          <a:ln w="9525">
            <a:solidFill>
              <a:srgbClr val="1F3A9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83464" y="923544"/>
            <a:ext cx="182880" cy="182880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346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914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UGV &amp; sensors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301752" y="1124712"/>
            <a:ext cx="122529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Gazebo Harmonic outdoor world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camera 640×480, 90° FOV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odometry — no GPS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runner: spawn obstacle, change sun</a:t>
            </a:r>
            <a:endParaRPr lang="en-US" sz="660" dirty="0"/>
          </a:p>
        </p:txBody>
      </p:sp>
      <p:sp>
        <p:nvSpPr>
          <p:cNvPr id="14" name="Shape 10"/>
          <p:cNvSpPr/>
          <p:nvPr/>
        </p:nvSpPr>
        <p:spPr>
          <a:xfrm>
            <a:off x="1828800" y="8686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1E8F7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83664" y="923544"/>
            <a:ext cx="182880" cy="1828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88366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2103120" y="914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with uncertainty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901952" y="112471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SegFormer-B0 / Fast-SCNN, 8 classes, ONNX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 → per-pixel UNKNOWN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confidence C (learned regressor)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pre-processing when dark</a:t>
            </a:r>
            <a:endParaRPr lang="en-US" sz="660" dirty="0"/>
          </a:p>
        </p:txBody>
      </p:sp>
      <p:sp>
        <p:nvSpPr>
          <p:cNvPr id="19" name="Shape 15"/>
          <p:cNvSpPr/>
          <p:nvPr/>
        </p:nvSpPr>
        <p:spPr>
          <a:xfrm>
            <a:off x="1828800" y="19659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E4F3F1"/>
          </a:solidFill>
          <a:ln w="9525">
            <a:solidFill>
              <a:srgbClr val="0069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883664" y="2020824"/>
            <a:ext cx="182880" cy="18288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883664" y="2020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2103120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1901952" y="2221992"/>
            <a:ext cx="1819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RTAB-Map RGB-D visual odometry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 fusion with wheel odometry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health H: features, inliers, lost</a:t>
            </a:r>
            <a:endParaRPr lang="en-US" sz="660" dirty="0"/>
          </a:p>
        </p:txBody>
      </p:sp>
      <p:sp>
        <p:nvSpPr>
          <p:cNvPr id="24" name="Shape 20"/>
          <p:cNvSpPr/>
          <p:nvPr/>
        </p:nvSpPr>
        <p:spPr>
          <a:xfrm>
            <a:off x="4023360" y="868680"/>
            <a:ext cx="2103120" cy="1965960"/>
          </a:xfrm>
          <a:prstGeom prst="roundRect">
            <a:avLst>
              <a:gd name="adj" fmla="val 2326"/>
            </a:avLst>
          </a:prstGeom>
          <a:solidFill>
            <a:srgbClr val="FDECEC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078224" y="923544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7822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3"/>
          <p:cNvSpPr txBox="1"/>
          <p:nvPr/>
        </p:nvSpPr>
        <p:spPr>
          <a:xfrm>
            <a:off x="4297680" y="9144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 + events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4096512" y="1124712"/>
            <a:ext cx="19568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→ points → 0.25 m cells; per cell: class belief, obstacle log-odds, height, unknown, confidence, last seen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max(terrain, geometry, obstacle, unknown), pulled toward 'uncertain' when C is low; unseen = 35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Events: E1 new lethal cell on path · E2 corridor risk rise · E3 band change · E4 blocked &gt; 2 s → replan</a:t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6355080" y="868680"/>
            <a:ext cx="2560320" cy="603504"/>
          </a:xfrm>
          <a:prstGeom prst="roundRect">
            <a:avLst>
              <a:gd name="adj" fmla="val 7576"/>
            </a:avLst>
          </a:prstGeom>
          <a:solidFill>
            <a:srgbClr val="FFF4E0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09944" y="923544"/>
            <a:ext cx="182880" cy="18288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994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6629400" y="9144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governor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428232" y="11247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H → band NORMAL / CAUTIOUS / CONSERVATIVE / RECOVER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→ v_max, margin, risk weight λ, unknown weight</a:t>
            </a:r>
            <a:endParaRPr lang="en-US" sz="660" dirty="0"/>
          </a:p>
        </p:txBody>
      </p:sp>
      <p:sp>
        <p:nvSpPr>
          <p:cNvPr id="34" name="Shape 30"/>
          <p:cNvSpPr/>
          <p:nvPr/>
        </p:nvSpPr>
        <p:spPr>
          <a:xfrm>
            <a:off x="6355080" y="1600200"/>
            <a:ext cx="1234440" cy="1234440"/>
          </a:xfrm>
          <a:prstGeom prst="roundRect">
            <a:avLst>
              <a:gd name="adj" fmla="val 3704"/>
            </a:avLst>
          </a:prstGeom>
          <a:solidFill>
            <a:srgbClr val="EAF6E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409944" y="165506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09944" y="1655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3"/>
          <p:cNvSpPr txBox="1"/>
          <p:nvPr/>
        </p:nvSpPr>
        <p:spPr>
          <a:xfrm>
            <a:off x="6629400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6428232" y="1856232"/>
            <a:ext cx="10881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 1 + λ·risk², events only (~30 ms)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Local: 52 arcs, 2 s rollout, 10 Hz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vs safest routes</a:t>
            </a:r>
            <a:endParaRPr lang="en-US" sz="660" dirty="0"/>
          </a:p>
        </p:txBody>
      </p:sp>
      <p:sp>
        <p:nvSpPr>
          <p:cNvPr id="39" name="Shape 35"/>
          <p:cNvSpPr/>
          <p:nvPr/>
        </p:nvSpPr>
        <p:spPr>
          <a:xfrm>
            <a:off x="7726680" y="1600200"/>
            <a:ext cx="1188720" cy="1234440"/>
          </a:xfrm>
          <a:prstGeom prst="roundRect">
            <a:avLst>
              <a:gd name="adj" fmla="val 3846"/>
            </a:avLst>
          </a:prstGeom>
          <a:solidFill>
            <a:srgbClr val="EAF1FB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781544" y="1655064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781544" y="1655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2" name="Text 38"/>
          <p:cNvSpPr txBox="1"/>
          <p:nvPr/>
        </p:nvSpPr>
        <p:spPr>
          <a:xfrm>
            <a:off x="8001000" y="1645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7799832" y="1856232"/>
            <a:ext cx="10424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pursuit on local arc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≤ v_max(C)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if lethal &lt; 0.5 m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/cmd_vel → skid-steer</a:t>
            </a:r>
            <a:endParaRPr lang="en-US" sz="660" dirty="0"/>
          </a:p>
        </p:txBody>
      </p:sp>
      <p:sp>
        <p:nvSpPr>
          <p:cNvPr id="44" name="Shape 40"/>
          <p:cNvSpPr/>
          <p:nvPr/>
        </p:nvSpPr>
        <p:spPr>
          <a:xfrm>
            <a:off x="1600200" y="1325880"/>
            <a:ext cx="228600" cy="0"/>
          </a:xfrm>
          <a:prstGeom prst="line">
            <a:avLst/>
          </a:prstGeom>
          <a:noFill/>
          <a:ln w="15875">
            <a:solidFill>
              <a:srgbClr val="1F3A93"/>
            </a:solidFill>
            <a:prstDash val="solid"/>
            <a:tailEnd type="triangle"/>
          </a:ln>
        </p:spPr>
      </p:sp>
      <p:sp>
        <p:nvSpPr>
          <p:cNvPr id="45" name="Shape 41"/>
          <p:cNvSpPr/>
          <p:nvPr/>
        </p:nvSpPr>
        <p:spPr>
          <a:xfrm>
            <a:off x="1600200" y="2377440"/>
            <a:ext cx="228600" cy="0"/>
          </a:xfrm>
          <a:prstGeom prst="line">
            <a:avLst/>
          </a:prstGeom>
          <a:noFill/>
          <a:ln w="15875">
            <a:solidFill>
              <a:srgbClr val="1F3A93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3794760" y="1325880"/>
            <a:ext cx="228600" cy="0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3794760" y="2377440"/>
            <a:ext cx="228600" cy="0"/>
          </a:xfrm>
          <a:prstGeom prst="line">
            <a:avLst/>
          </a:prstGeom>
          <a:noFill/>
          <a:ln w="15875">
            <a:solidFill>
              <a:srgbClr val="00695C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6126480" y="2194560"/>
            <a:ext cx="228600" cy="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7589520" y="2194560"/>
            <a:ext cx="137160" cy="0"/>
          </a:xfrm>
          <a:prstGeom prst="line">
            <a:avLst/>
          </a:prstGeom>
          <a:noFill/>
          <a:ln w="158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2834640" y="713232"/>
            <a:ext cx="3520440" cy="0"/>
          </a:xfrm>
          <a:prstGeom prst="line">
            <a:avLst/>
          </a:prstGeom>
          <a:noFill/>
          <a:ln w="15875">
            <a:solidFill>
              <a:srgbClr val="B26A00"/>
            </a:solidFill>
            <a:prstDash val="dash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2834640" y="713232"/>
            <a:ext cx="0" cy="155448"/>
          </a:xfrm>
          <a:prstGeom prst="line">
            <a:avLst/>
          </a:prstGeom>
          <a:noFill/>
          <a:ln w="15875">
            <a:solidFill>
              <a:srgbClr val="B26A00"/>
            </a:solidFill>
            <a:prstDash val="dash"/>
          </a:ln>
        </p:spPr>
      </p:sp>
      <p:sp>
        <p:nvSpPr>
          <p:cNvPr id="52" name="Text 48"/>
          <p:cNvSpPr txBox="1"/>
          <p:nvPr/>
        </p:nvSpPr>
        <p:spPr>
          <a:xfrm>
            <a:off x="2926080" y="548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 (from 2)  +  localisation health H (from 3)</a:t>
            </a:r>
            <a:endParaRPr lang="en-US" sz="580" dirty="0"/>
          </a:p>
        </p:txBody>
      </p:sp>
      <p:sp>
        <p:nvSpPr>
          <p:cNvPr id="53" name="Shape 49"/>
          <p:cNvSpPr/>
          <p:nvPr/>
        </p:nvSpPr>
        <p:spPr>
          <a:xfrm>
            <a:off x="6949440" y="1472184"/>
            <a:ext cx="0" cy="128016"/>
          </a:xfrm>
          <a:prstGeom prst="line">
            <a:avLst/>
          </a:prstGeom>
          <a:noFill/>
          <a:ln w="15875">
            <a:solidFill>
              <a:srgbClr val="B26A00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8321040" y="1472184"/>
            <a:ext cx="0" cy="128016"/>
          </a:xfrm>
          <a:prstGeom prst="line">
            <a:avLst/>
          </a:prstGeom>
          <a:noFill/>
          <a:ln w="15875">
            <a:solidFill>
              <a:srgbClr val="B26A00"/>
            </a:solidFill>
            <a:prstDash val="solid"/>
            <a:tailEnd type="triangle"/>
          </a:ln>
        </p:spPr>
      </p:sp>
      <p:sp>
        <p:nvSpPr>
          <p:cNvPr id="55" name="Text 51"/>
          <p:cNvSpPr txBox="1"/>
          <p:nvPr/>
        </p:nvSpPr>
        <p:spPr>
          <a:xfrm>
            <a:off x="7004304" y="14630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λ, margin</a:t>
            </a:r>
            <a:endParaRPr lang="en-US" sz="520" dirty="0"/>
          </a:p>
        </p:txBody>
      </p:sp>
      <p:sp>
        <p:nvSpPr>
          <p:cNvPr id="56" name="Text 52"/>
          <p:cNvSpPr txBox="1"/>
          <p:nvPr/>
        </p:nvSpPr>
        <p:spPr>
          <a:xfrm>
            <a:off x="8375904" y="1463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v_max</a:t>
            </a:r>
            <a:endParaRPr lang="en-US" sz="520" dirty="0"/>
          </a:p>
        </p:txBody>
      </p:sp>
      <p:sp>
        <p:nvSpPr>
          <p:cNvPr id="57" name="Shape 53"/>
          <p:cNvSpPr/>
          <p:nvPr/>
        </p:nvSpPr>
        <p:spPr>
          <a:xfrm>
            <a:off x="8321040" y="2834640"/>
            <a:ext cx="0" cy="27432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14400" y="3108960"/>
            <a:ext cx="740664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 flipV="1">
            <a:off x="914400" y="2834640"/>
            <a:ext cx="0" cy="27432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60" name="Text 56"/>
          <p:cNvSpPr txBox="1"/>
          <p:nvPr/>
        </p:nvSpPr>
        <p:spPr>
          <a:xfrm>
            <a:off x="2743200" y="31363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/cmd_vel moves the UGV → new camera frame → loop repeats at 10 Hz</a:t>
            </a:r>
            <a:endParaRPr lang="en-US" sz="650" dirty="0"/>
          </a:p>
        </p:txBody>
      </p:sp>
      <p:sp>
        <p:nvSpPr>
          <p:cNvPr id="61" name="Shape 57"/>
          <p:cNvSpPr/>
          <p:nvPr/>
        </p:nvSpPr>
        <p:spPr>
          <a:xfrm>
            <a:off x="228600" y="3493008"/>
            <a:ext cx="630936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320040" y="3493008"/>
            <a:ext cx="6172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THE WORLD CHANGES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228600" y="3767328"/>
            <a:ext cx="6309360" cy="960120"/>
          </a:xfrm>
          <a:prstGeom prst="roundRect">
            <a:avLst>
              <a:gd name="adj" fmla="val 4762"/>
            </a:avLst>
          </a:prstGeom>
          <a:solidFill>
            <a:srgbClr val="FAFB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201168" cy="201168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566928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appears 7 m ahead</a:t>
            </a:r>
            <a:endParaRPr lang="en-US" sz="720" dirty="0"/>
          </a:p>
        </p:txBody>
      </p:sp>
      <p:sp>
        <p:nvSpPr>
          <p:cNvPr id="66" name="Text 61"/>
          <p:cNvSpPr txBox="1"/>
          <p:nvPr/>
        </p:nvSpPr>
        <p:spPr>
          <a:xfrm>
            <a:off x="320040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in 1 frame → cell risk 92 → E1 → A* replan ≈ 30 ms → UGV passes with margin</a:t>
            </a:r>
            <a:endParaRPr lang="en-US" sz="630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3840480"/>
            <a:ext cx="201168" cy="201168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2139696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Unfamiliar object</a:t>
            </a:r>
            <a:endParaRPr lang="en-US" sz="720" dirty="0"/>
          </a:p>
        </p:txBody>
      </p:sp>
      <p:sp>
        <p:nvSpPr>
          <p:cNvPr id="69" name="Text 63"/>
          <p:cNvSpPr txBox="1"/>
          <p:nvPr/>
        </p:nvSpPr>
        <p:spPr>
          <a:xfrm>
            <a:off x="1892808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class fits → energy score high → UNKNOWN → risk 60 + 50·u → treated as lethal, wider berth</a:t>
            </a:r>
            <a:endParaRPr lang="en-US" sz="63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840480"/>
            <a:ext cx="201168" cy="201168"/>
          </a:xfrm>
          <a:prstGeom prst="rect">
            <a:avLst/>
          </a:prstGeom>
        </p:spPr>
      </p:pic>
      <p:sp>
        <p:nvSpPr>
          <p:cNvPr id="71" name="Text 64"/>
          <p:cNvSpPr txBox="1"/>
          <p:nvPr/>
        </p:nvSpPr>
        <p:spPr>
          <a:xfrm>
            <a:off x="3712464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dims / shadows</a:t>
            </a:r>
            <a:endParaRPr lang="en-US" sz="720" dirty="0"/>
          </a:p>
        </p:txBody>
      </p:sp>
      <p:sp>
        <p:nvSpPr>
          <p:cNvPr id="72" name="Text 65"/>
          <p:cNvSpPr txBox="1"/>
          <p:nvPr/>
        </p:nvSpPr>
        <p:spPr>
          <a:xfrm>
            <a:off x="3465576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0.95 → 0.47 → CONSERVATIVE: v 1.6 → 0.5 m/s, margin ×2, only risk &lt; 66 driven</a:t>
            </a:r>
            <a:endParaRPr lang="en-US" sz="630" dirty="0"/>
          </a:p>
        </p:txBody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3840480"/>
            <a:ext cx="201168" cy="201168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5285232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returns</a:t>
            </a:r>
            <a:endParaRPr lang="en-US" sz="720" dirty="0"/>
          </a:p>
        </p:txBody>
      </p:sp>
      <p:sp>
        <p:nvSpPr>
          <p:cNvPr id="75" name="Text 67"/>
          <p:cNvSpPr txBox="1"/>
          <p:nvPr/>
        </p:nvSpPr>
        <p:spPr>
          <a:xfrm>
            <a:off x="5038344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recovers → NORMAL band → speed resumes → Point B reached, zero collisions</a:t>
            </a:r>
            <a:endParaRPr lang="en-US" sz="630" dirty="0"/>
          </a:p>
        </p:txBody>
      </p:sp>
      <p:sp>
        <p:nvSpPr>
          <p:cNvPr id="76" name="Shape 68"/>
          <p:cNvSpPr/>
          <p:nvPr/>
        </p:nvSpPr>
        <p:spPr>
          <a:xfrm>
            <a:off x="6675120" y="349300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3566160"/>
            <a:ext cx="256032" cy="256032"/>
          </a:xfrm>
          <a:prstGeom prst="rect">
            <a:avLst/>
          </a:prstGeom>
        </p:spPr>
      </p:pic>
      <p:sp>
        <p:nvSpPr>
          <p:cNvPr id="78" name="Text 69"/>
          <p:cNvSpPr txBox="1"/>
          <p:nvPr/>
        </p:nvSpPr>
        <p:spPr>
          <a:xfrm>
            <a:off x="7086600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VIDEO</a:t>
            </a:r>
            <a:endParaRPr lang="en-US" sz="1000" dirty="0"/>
          </a:p>
        </p:txBody>
      </p:sp>
      <p:sp>
        <p:nvSpPr>
          <p:cNvPr id="79" name="Text 70"/>
          <p:cNvSpPr txBox="1"/>
          <p:nvPr/>
        </p:nvSpPr>
        <p:spPr>
          <a:xfrm>
            <a:off x="6784848" y="3858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simulation: risk map, unknown object, lighting event, replanning, A → B.</a:t>
            </a:r>
            <a:endParaRPr lang="en-US" sz="700" dirty="0"/>
          </a:p>
        </p:txBody>
      </p:sp>
      <p:sp>
        <p:nvSpPr>
          <p:cNvPr id="80" name="Text 71"/>
          <p:cNvSpPr txBox="1"/>
          <p:nvPr/>
        </p:nvSpPr>
        <p:spPr>
          <a:xfrm>
            <a:off x="6784848" y="4315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[YouTube link – add before submission]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 AND FEASIBILITY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868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161288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" y="1252728"/>
            <a:ext cx="310896" cy="3108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" y="1327343"/>
            <a:ext cx="161666" cy="16166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1399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Jazzy · Gazebo Harmonic · segmentation &amp; RGB-D camera sensors · scenario runner (YAML)</a:t>
            </a:r>
            <a:endParaRPr lang="en-US" sz="640" dirty="0"/>
          </a:p>
        </p:txBody>
      </p:sp>
      <p:sp>
        <p:nvSpPr>
          <p:cNvPr id="15" name="Shape 11"/>
          <p:cNvSpPr/>
          <p:nvPr/>
        </p:nvSpPr>
        <p:spPr>
          <a:xfrm>
            <a:off x="2331720" y="1161288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1E8F7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404872" y="1252728"/>
            <a:ext cx="310896" cy="31089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87" y="1327343"/>
            <a:ext cx="161666" cy="16166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8892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AI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1399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SegFormer-B0 (3.7 M params) / Fast-SCNN · energy-score OOD · ONNX Runtime / TensorRT</a:t>
            </a:r>
            <a:endParaRPr lang="en-US" sz="640" dirty="0"/>
          </a:p>
        </p:txBody>
      </p:sp>
      <p:sp>
        <p:nvSpPr>
          <p:cNvPr id="20" name="Shape 15"/>
          <p:cNvSpPr/>
          <p:nvPr/>
        </p:nvSpPr>
        <p:spPr>
          <a:xfrm>
            <a:off x="228600" y="1911096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4F3F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01752" y="2002536"/>
            <a:ext cx="310896" cy="310896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67" y="2077151"/>
            <a:ext cx="161666" cy="16166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1965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21488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RTAB-Map (RGB-D) · robot_localization EKF · own ORB + PnP visual odometry as fallback</a:t>
            </a:r>
            <a:endParaRPr lang="en-US" sz="640" dirty="0"/>
          </a:p>
        </p:txBody>
      </p:sp>
      <p:sp>
        <p:nvSpPr>
          <p:cNvPr id="25" name="Shape 19"/>
          <p:cNvSpPr/>
          <p:nvPr/>
        </p:nvSpPr>
        <p:spPr>
          <a:xfrm>
            <a:off x="2331720" y="1911096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404872" y="2002536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487" y="2077151"/>
            <a:ext cx="161666" cy="16166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788920" y="1965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control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2788920" y="21488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multi-layer risk map · A* (scikit-image / pyastar2d) · arc-sampling local planner · pure pursuit</a:t>
            </a:r>
            <a:endParaRPr lang="en-US" sz="640" dirty="0"/>
          </a:p>
        </p:txBody>
      </p:sp>
      <p:sp>
        <p:nvSpPr>
          <p:cNvPr id="30" name="Shape 23"/>
          <p:cNvSpPr/>
          <p:nvPr/>
        </p:nvSpPr>
        <p:spPr>
          <a:xfrm>
            <a:off x="228600" y="2660904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01752" y="2752344"/>
            <a:ext cx="310896" cy="31089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67" y="2826959"/>
            <a:ext cx="161666" cy="16166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5800" y="2715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eval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" y="2898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Foxglove Studio · FastAPI + WebSocket web view · seeded evaluation harness · CSV metrics</a:t>
            </a:r>
            <a:endParaRPr lang="en-US" sz="640" dirty="0"/>
          </a:p>
        </p:txBody>
      </p:sp>
      <p:sp>
        <p:nvSpPr>
          <p:cNvPr id="35" name="Shape 27"/>
          <p:cNvSpPr/>
          <p:nvPr/>
        </p:nvSpPr>
        <p:spPr>
          <a:xfrm>
            <a:off x="2331720" y="2660904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3F4F6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404872" y="275234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9487" y="2826959"/>
            <a:ext cx="161666" cy="16166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788920" y="2715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(now)</a:t>
            </a:r>
            <a:endParaRPr lang="en-US" sz="850" dirty="0"/>
          </a:p>
        </p:txBody>
      </p:sp>
      <p:sp>
        <p:nvSpPr>
          <p:cNvPr id="39" name="Text 30"/>
          <p:cNvSpPr txBox="1"/>
          <p:nvPr/>
        </p:nvSpPr>
        <p:spPr>
          <a:xfrm>
            <a:off x="2788920" y="2898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Python: NumPy · SciPy · scikit-image · Matplotlib renderer · imageio (demo video, slide 6)</a:t>
            </a:r>
            <a:endParaRPr lang="en-US" sz="640" dirty="0"/>
          </a:p>
        </p:txBody>
      </p:sp>
      <p:sp>
        <p:nvSpPr>
          <p:cNvPr id="40" name="Shape 31"/>
          <p:cNvSpPr/>
          <p:nvPr/>
        </p:nvSpPr>
        <p:spPr>
          <a:xfrm>
            <a:off x="228600" y="3456432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20040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BUILDABLE BY A STUDENT TEAM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228600" y="3730752"/>
            <a:ext cx="4160520" cy="100584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320040" y="377647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auto-labels every training frame → no manual annotation; RUGD / RELLIS-3D / ORFD for real-image fine-tuning.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is NumPy-level maths on a 0.25 m grid; A* replans in ~30 ms, whole loop runs at 10 Hz on a laptop CPU.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ROS 2 nodes run on a Jetson with a RealSense / ZED camera — the simulator is swapped, not the code.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proof-of-concept already exists (video, slide 6): 45 seeded runs, 3 planner variants.</a:t>
            </a:r>
            <a:endParaRPr lang="en-US" sz="690" dirty="0"/>
          </a:p>
        </p:txBody>
      </p:sp>
      <p:sp>
        <p:nvSpPr>
          <p:cNvPr id="44" name="Shape 35"/>
          <p:cNvSpPr/>
          <p:nvPr/>
        </p:nvSpPr>
        <p:spPr>
          <a:xfrm>
            <a:off x="4572000" y="868680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4663440" y="8686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572000" y="1161288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63440" y="1243584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4818888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Textureless grass and sky make visual SLAM lose tracking outdoors.</a:t>
            </a:r>
            <a:endParaRPr lang="en-US" sz="720" dirty="0"/>
          </a:p>
        </p:txBody>
      </p:sp>
      <p:sp>
        <p:nvSpPr>
          <p:cNvPr id="49" name="Shape 40"/>
          <p:cNvSpPr/>
          <p:nvPr/>
        </p:nvSpPr>
        <p:spPr>
          <a:xfrm>
            <a:off x="4572000" y="1490472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4663440" y="1572768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4818888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degrades under strong shadows, dusk and glare.</a:t>
            </a:r>
            <a:endParaRPr lang="en-US" sz="720" dirty="0"/>
          </a:p>
        </p:txBody>
      </p:sp>
      <p:sp>
        <p:nvSpPr>
          <p:cNvPr id="52" name="Shape 43"/>
          <p:cNvSpPr/>
          <p:nvPr/>
        </p:nvSpPr>
        <p:spPr>
          <a:xfrm>
            <a:off x="4572000" y="1819656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4663440" y="1901952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818888" y="1819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never seen in training are misclassified as 'safe'.</a:t>
            </a:r>
            <a:endParaRPr lang="en-US" sz="720" dirty="0"/>
          </a:p>
        </p:txBody>
      </p:sp>
      <p:sp>
        <p:nvSpPr>
          <p:cNvPr id="55" name="Shape 46"/>
          <p:cNvSpPr/>
          <p:nvPr/>
        </p:nvSpPr>
        <p:spPr>
          <a:xfrm>
            <a:off x="4572000" y="2148840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663440" y="2231136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4818888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Sim-to-real gap: simulator textures differ from real terrain.</a:t>
            </a:r>
            <a:endParaRPr lang="en-US" sz="720" dirty="0"/>
          </a:p>
        </p:txBody>
      </p:sp>
      <p:sp>
        <p:nvSpPr>
          <p:cNvPr id="58" name="Shape 49"/>
          <p:cNvSpPr/>
          <p:nvPr/>
        </p:nvSpPr>
        <p:spPr>
          <a:xfrm>
            <a:off x="4572000" y="2523744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46634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FEASIBILITY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4572000" y="281635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4663440" y="288950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4818888" y="28163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are proven open-source parts (RTAB-Map, ROS 2, SegFormer) — the novelty is in how they are combined.</a:t>
            </a:r>
            <a:endParaRPr lang="en-US" sz="680" dirty="0"/>
          </a:p>
        </p:txBody>
      </p:sp>
      <p:sp>
        <p:nvSpPr>
          <p:cNvPr id="63" name="Shape 54"/>
          <p:cNvSpPr/>
          <p:nvPr/>
        </p:nvSpPr>
        <p:spPr>
          <a:xfrm>
            <a:off x="4572000" y="309067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4663440" y="316382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4818888" y="3090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table, bands and thresholds live in YAML — tunable without retraining.</a:t>
            </a:r>
            <a:endParaRPr lang="en-US" sz="680" dirty="0"/>
          </a:p>
        </p:txBody>
      </p:sp>
      <p:sp>
        <p:nvSpPr>
          <p:cNvPr id="66" name="Shape 57"/>
          <p:cNvSpPr/>
          <p:nvPr/>
        </p:nvSpPr>
        <p:spPr>
          <a:xfrm>
            <a:off x="4572000" y="336499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663440" y="343814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4818888" y="33649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loop runs 10 Hz on CPU; model is ~3.7 M params → embedded-ready (ONNX / TensorRT).</a:t>
            </a:r>
            <a:endParaRPr lang="en-US" sz="680" dirty="0"/>
          </a:p>
        </p:txBody>
      </p:sp>
      <p:sp>
        <p:nvSpPr>
          <p:cNvPr id="69" name="Shape 60"/>
          <p:cNvSpPr/>
          <p:nvPr/>
        </p:nvSpPr>
        <p:spPr>
          <a:xfrm>
            <a:off x="4572000" y="363931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4663440" y="371246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4818888" y="3639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10-week plan: A→B with ground-truth pose by week 3, full stack by week 8.</a:t>
            </a:r>
            <a:endParaRPr lang="en-US" sz="680" dirty="0"/>
          </a:p>
        </p:txBody>
      </p:sp>
      <p:sp>
        <p:nvSpPr>
          <p:cNvPr id="72" name="Shape 63"/>
          <p:cNvSpPr/>
          <p:nvPr/>
        </p:nvSpPr>
        <p:spPr>
          <a:xfrm>
            <a:off x="4572000" y="3950208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4663440" y="3950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RISKS</a:t>
            </a:r>
            <a:endParaRPr lang="en-US" sz="900" dirty="0"/>
          </a:p>
        </p:txBody>
      </p:sp>
      <p:sp>
        <p:nvSpPr>
          <p:cNvPr id="74" name="Text 65"/>
          <p:cNvSpPr txBox="1"/>
          <p:nvPr/>
        </p:nvSpPr>
        <p:spPr>
          <a:xfrm>
            <a:off x="4617720" y="4224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VO with wheel odometry (EKF); tracking-health signal → hold and re-acquire.</a:t>
            </a:r>
            <a:endParaRPr lang="en-US" sz="660" dirty="0"/>
          </a:p>
        </p:txBody>
      </p:sp>
      <p:sp>
        <p:nvSpPr>
          <p:cNvPr id="75" name="Text 66"/>
          <p:cNvSpPr txBox="1"/>
          <p:nvPr/>
        </p:nvSpPr>
        <p:spPr>
          <a:xfrm>
            <a:off x="4617720" y="435711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governor slows and widens margins when lighting degrades; CLAHE pre-processing.</a:t>
            </a:r>
            <a:endParaRPr lang="en-US" sz="660" dirty="0"/>
          </a:p>
        </p:txBody>
      </p:sp>
      <p:sp>
        <p:nvSpPr>
          <p:cNvPr id="76" name="Text 67"/>
          <p:cNvSpPr txBox="1"/>
          <p:nvPr/>
        </p:nvSpPr>
        <p:spPr>
          <a:xfrm>
            <a:off x="4617720" y="44897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Energy-score OOD + 'novel' class trained by outlier exposure in simulation → unknown gets risk.</a:t>
            </a:r>
            <a:endParaRPr lang="en-US" sz="660" dirty="0"/>
          </a:p>
        </p:txBody>
      </p:sp>
      <p:sp>
        <p:nvSpPr>
          <p:cNvPr id="77" name="Text 68"/>
          <p:cNvSpPr txBox="1"/>
          <p:nvPr/>
        </p:nvSpPr>
        <p:spPr>
          <a:xfrm>
            <a:off x="4617720" y="462229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randomisation (sun, textures, fog) + fine-tune on RUGD / RELLIS-3D real images.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57607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86868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AREAS — what changes for outdoor UGV operations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161288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" y="1271016"/>
            <a:ext cx="347472" cy="347472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5" y="13544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12252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defence mobility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UGVs keep moving under jamming, in forests, valleys and urban canyons where GNSS fails — BEL's core use case.</a:t>
            </a:r>
            <a:endParaRPr lang="en-US" sz="660" dirty="0"/>
          </a:p>
        </p:txBody>
      </p:sp>
      <p:sp>
        <p:nvSpPr>
          <p:cNvPr id="15" name="Shape 11"/>
          <p:cNvSpPr/>
          <p:nvPr/>
        </p:nvSpPr>
        <p:spPr>
          <a:xfrm>
            <a:off x="3154680" y="1161288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DEC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27832" y="127101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225" y="1354409"/>
            <a:ext cx="180685" cy="18068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57600" y="12252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rescue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0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casualties over rubble and unstable ground; unknown debris is avoided, not driven into.</a:t>
            </a:r>
            <a:endParaRPr lang="en-US" sz="660" dirty="0"/>
          </a:p>
        </p:txBody>
      </p:sp>
      <p:sp>
        <p:nvSpPr>
          <p:cNvPr id="20" name="Shape 15"/>
          <p:cNvSpPr/>
          <p:nvPr/>
        </p:nvSpPr>
        <p:spPr>
          <a:xfrm>
            <a:off x="228600" y="1947672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01752" y="205740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45" y="2140793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robots choose firm ground over mud, cutting bogging and crop damage; runs on a low-cost camera.</a:t>
            </a:r>
            <a:endParaRPr lang="en-US" sz="660" dirty="0"/>
          </a:p>
        </p:txBody>
      </p:sp>
      <p:sp>
        <p:nvSpPr>
          <p:cNvPr id="25" name="Shape 19"/>
          <p:cNvSpPr/>
          <p:nvPr/>
        </p:nvSpPr>
        <p:spPr>
          <a:xfrm>
            <a:off x="3154680" y="1947672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27832" y="2057400"/>
            <a:ext cx="347472" cy="347472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225" y="2140793"/>
            <a:ext cx="180685" cy="18068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5760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surveillance, mining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36576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patrol and last-mile logistics at dawn, dusk and under tree cover with adaptive caution.</a:t>
            </a:r>
            <a:endParaRPr lang="en-US" sz="660" dirty="0"/>
          </a:p>
        </p:txBody>
      </p:sp>
      <p:sp>
        <p:nvSpPr>
          <p:cNvPr id="30" name="Shape 23"/>
          <p:cNvSpPr/>
          <p:nvPr/>
        </p:nvSpPr>
        <p:spPr>
          <a:xfrm>
            <a:off x="228600" y="2788920"/>
            <a:ext cx="57607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20040" y="278892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PROGRAM IMPACTS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28600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01752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Collision-free autonomy</a:t>
            </a:r>
            <a:endParaRPr lang="en-US" sz="780" dirty="0"/>
          </a:p>
        </p:txBody>
      </p:sp>
      <p:sp>
        <p:nvSpPr>
          <p:cNvPr id="34" name="Text 27"/>
          <p:cNvSpPr txBox="1"/>
          <p:nvPr/>
        </p:nvSpPr>
        <p:spPr>
          <a:xfrm>
            <a:off x="301752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collisions in 45 seeded runs; unknown objects and ditches avoided, not assumed safe.</a:t>
            </a:r>
            <a:endParaRPr lang="en-US" sz="630" dirty="0"/>
          </a:p>
        </p:txBody>
      </p:sp>
      <p:sp>
        <p:nvSpPr>
          <p:cNvPr id="35" name="Shape 28"/>
          <p:cNvSpPr/>
          <p:nvPr/>
        </p:nvSpPr>
        <p:spPr>
          <a:xfrm>
            <a:off x="2176272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249424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Safer, not just shorter</a:t>
            </a:r>
            <a:endParaRPr lang="en-US" sz="780" dirty="0"/>
          </a:p>
        </p:txBody>
      </p:sp>
      <p:sp>
        <p:nvSpPr>
          <p:cNvPr id="37" name="Text 30"/>
          <p:cNvSpPr txBox="1"/>
          <p:nvPr/>
        </p:nvSpPr>
        <p:spPr>
          <a:xfrm>
            <a:off x="2249424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 mud cut from ~40 s to under 1 s per run vs. binary planner; path ~13 % longer.</a:t>
            </a:r>
            <a:endParaRPr lang="en-US" sz="630" dirty="0"/>
          </a:p>
        </p:txBody>
      </p:sp>
      <p:sp>
        <p:nvSpPr>
          <p:cNvPr id="38" name="Shape 31"/>
          <p:cNvSpPr/>
          <p:nvPr/>
        </p:nvSpPr>
        <p:spPr>
          <a:xfrm>
            <a:off x="4123944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197096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Self-aware perception</a:t>
            </a:r>
            <a:endParaRPr lang="en-US" sz="780" dirty="0"/>
          </a:p>
        </p:txBody>
      </p:sp>
      <p:sp>
        <p:nvSpPr>
          <p:cNvPr id="40" name="Text 33"/>
          <p:cNvSpPr txBox="1"/>
          <p:nvPr/>
        </p:nvSpPr>
        <p:spPr>
          <a:xfrm>
            <a:off x="4197096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tells the vehicle when to slow down — a first-class signal.</a:t>
            </a:r>
            <a:endParaRPr lang="en-US" sz="630" dirty="0"/>
          </a:p>
        </p:txBody>
      </p:sp>
      <p:sp>
        <p:nvSpPr>
          <p:cNvPr id="41" name="Shape 34"/>
          <p:cNvSpPr/>
          <p:nvPr/>
        </p:nvSpPr>
        <p:spPr>
          <a:xfrm>
            <a:off x="228600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01752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reaction</a:t>
            </a:r>
            <a:endParaRPr lang="en-US" sz="780" dirty="0"/>
          </a:p>
        </p:txBody>
      </p:sp>
      <p:sp>
        <p:nvSpPr>
          <p:cNvPr id="43" name="Text 36"/>
          <p:cNvSpPr txBox="1"/>
          <p:nvPr/>
        </p:nvSpPr>
        <p:spPr>
          <a:xfrm>
            <a:off x="301752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hazard detected within 1–2 frames, ~100–200 ms (binary map: ~960 ms); A* replan in under 30 ms.</a:t>
            </a:r>
            <a:endParaRPr lang="en-US" sz="630" dirty="0"/>
          </a:p>
        </p:txBody>
      </p:sp>
      <p:sp>
        <p:nvSpPr>
          <p:cNvPr id="44" name="Shape 37"/>
          <p:cNvSpPr/>
          <p:nvPr/>
        </p:nvSpPr>
        <p:spPr>
          <a:xfrm>
            <a:off x="2176272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2249424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cost, lightweight</a:t>
            </a:r>
            <a:endParaRPr lang="en-US" sz="780" dirty="0"/>
          </a:p>
        </p:txBody>
      </p:sp>
      <p:sp>
        <p:nvSpPr>
          <p:cNvPr id="46" name="Text 39"/>
          <p:cNvSpPr txBox="1"/>
          <p:nvPr/>
        </p:nvSpPr>
        <p:spPr>
          <a:xfrm>
            <a:off x="2249424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RGB-D camera, no LiDAR, no GPS; 3.7 M-param model runs on Jetson-class boards.</a:t>
            </a:r>
            <a:endParaRPr lang="en-US" sz="630" dirty="0"/>
          </a:p>
        </p:txBody>
      </p:sp>
      <p:sp>
        <p:nvSpPr>
          <p:cNvPr id="47" name="Shape 40"/>
          <p:cNvSpPr/>
          <p:nvPr/>
        </p:nvSpPr>
        <p:spPr>
          <a:xfrm>
            <a:off x="4123944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4197096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&amp; reproducible</a:t>
            </a:r>
            <a:endParaRPr lang="en-US" sz="780" dirty="0"/>
          </a:p>
        </p:txBody>
      </p:sp>
      <p:sp>
        <p:nvSpPr>
          <p:cNvPr id="49" name="Text 42"/>
          <p:cNvSpPr txBox="1"/>
          <p:nvPr/>
        </p:nvSpPr>
        <p:spPr>
          <a:xfrm>
            <a:off x="4197096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scenarios and ablations; every claim is a number from the harness.</a:t>
            </a:r>
            <a:endParaRPr lang="en-US" sz="630" dirty="0"/>
          </a:p>
        </p:txBody>
      </p:sp>
      <p:sp>
        <p:nvSpPr>
          <p:cNvPr id="50" name="Shape 43"/>
          <p:cNvSpPr/>
          <p:nvPr/>
        </p:nvSpPr>
        <p:spPr>
          <a:xfrm>
            <a:off x="6172200" y="86868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263640" y="868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172200" y="11612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245352" y="1252728"/>
            <a:ext cx="219456" cy="219456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245352" y="1252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6537960" y="1188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 / defence UGV programmes</a:t>
            </a:r>
            <a:endParaRPr lang="en-US" sz="740" dirty="0"/>
          </a:p>
        </p:txBody>
      </p:sp>
      <p:sp>
        <p:nvSpPr>
          <p:cNvPr id="56" name="Text 49"/>
          <p:cNvSpPr txBox="1"/>
          <p:nvPr/>
        </p:nvSpPr>
        <p:spPr>
          <a:xfrm>
            <a:off x="6537960" y="13533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Camera-first autonomy module for GPS-denied outdoor platforms.</a:t>
            </a:r>
            <a:endParaRPr lang="en-US" sz="630" dirty="0"/>
          </a:p>
        </p:txBody>
      </p:sp>
      <p:sp>
        <p:nvSpPr>
          <p:cNvPr id="57" name="Shape 50"/>
          <p:cNvSpPr/>
          <p:nvPr/>
        </p:nvSpPr>
        <p:spPr>
          <a:xfrm>
            <a:off x="6172200" y="16184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DEC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245352" y="1709928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245352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6537960" y="16459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Disaster-response agencies (NDRF, SDRF)</a:t>
            </a:r>
            <a:endParaRPr lang="en-US" sz="740" dirty="0"/>
          </a:p>
        </p:txBody>
      </p:sp>
      <p:sp>
        <p:nvSpPr>
          <p:cNvPr id="61" name="Text 54"/>
          <p:cNvSpPr txBox="1"/>
          <p:nvPr/>
        </p:nvSpPr>
        <p:spPr>
          <a:xfrm>
            <a:off x="6537960" y="18105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robots for reconnaissance over unstable terrain.</a:t>
            </a:r>
            <a:endParaRPr lang="en-US" sz="630" dirty="0"/>
          </a:p>
        </p:txBody>
      </p:sp>
      <p:sp>
        <p:nvSpPr>
          <p:cNvPr id="62" name="Shape 55"/>
          <p:cNvSpPr/>
          <p:nvPr/>
        </p:nvSpPr>
        <p:spPr>
          <a:xfrm>
            <a:off x="6172200" y="20756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245352" y="2167128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6245352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58"/>
          <p:cNvSpPr txBox="1"/>
          <p:nvPr/>
        </p:nvSpPr>
        <p:spPr>
          <a:xfrm>
            <a:off x="653796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Agri-robotics &amp; plantation operators</a:t>
            </a:r>
            <a:endParaRPr lang="en-US" sz="740" dirty="0"/>
          </a:p>
        </p:txBody>
      </p:sp>
      <p:sp>
        <p:nvSpPr>
          <p:cNvPr id="66" name="Text 59"/>
          <p:cNvSpPr txBox="1"/>
          <p:nvPr/>
        </p:nvSpPr>
        <p:spPr>
          <a:xfrm>
            <a:off x="6537960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navigation for field and orchard vehicles.</a:t>
            </a:r>
            <a:endParaRPr lang="en-US" sz="630" dirty="0"/>
          </a:p>
        </p:txBody>
      </p:sp>
      <p:sp>
        <p:nvSpPr>
          <p:cNvPr id="67" name="Shape 60"/>
          <p:cNvSpPr/>
          <p:nvPr/>
        </p:nvSpPr>
        <p:spPr>
          <a:xfrm>
            <a:off x="6172200" y="25328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245352" y="2624328"/>
            <a:ext cx="219456" cy="21945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624535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Text 63"/>
          <p:cNvSpPr txBox="1"/>
          <p:nvPr/>
        </p:nvSpPr>
        <p:spPr>
          <a:xfrm>
            <a:off x="6537960" y="25603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mining &amp; surveillance</a:t>
            </a:r>
            <a:endParaRPr lang="en-US" sz="740" dirty="0"/>
          </a:p>
        </p:txBody>
      </p:sp>
      <p:sp>
        <p:nvSpPr>
          <p:cNvPr id="71" name="Text 64"/>
          <p:cNvSpPr txBox="1"/>
          <p:nvPr/>
        </p:nvSpPr>
        <p:spPr>
          <a:xfrm>
            <a:off x="6537960" y="2724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and last-mile autonomy in unstructured sites.</a:t>
            </a:r>
            <a:endParaRPr lang="en-US" sz="630" dirty="0"/>
          </a:p>
        </p:txBody>
      </p:sp>
      <p:sp>
        <p:nvSpPr>
          <p:cNvPr id="72" name="Shape 65"/>
          <p:cNvSpPr/>
          <p:nvPr/>
        </p:nvSpPr>
        <p:spPr>
          <a:xfrm>
            <a:off x="6172200" y="29900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1E8F7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6245352" y="3081528"/>
            <a:ext cx="219456" cy="21945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6245352" y="3081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5" name="Text 68"/>
          <p:cNvSpPr txBox="1"/>
          <p:nvPr/>
        </p:nvSpPr>
        <p:spPr>
          <a:xfrm>
            <a:off x="6537960" y="30175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researchers &amp; students</a:t>
            </a:r>
            <a:endParaRPr lang="en-US" sz="740" dirty="0"/>
          </a:p>
        </p:txBody>
      </p:sp>
      <p:sp>
        <p:nvSpPr>
          <p:cNvPr id="76" name="Text 69"/>
          <p:cNvSpPr txBox="1"/>
          <p:nvPr/>
        </p:nvSpPr>
        <p:spPr>
          <a:xfrm>
            <a:off x="6537960" y="31821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simulator-agnostic reference stack with evaluation harness.</a:t>
            </a:r>
            <a:endParaRPr lang="en-US" sz="630" dirty="0"/>
          </a:p>
        </p:txBody>
      </p:sp>
      <p:sp>
        <p:nvSpPr>
          <p:cNvPr id="77" name="Shape 70"/>
          <p:cNvSpPr/>
          <p:nvPr/>
        </p:nvSpPr>
        <p:spPr>
          <a:xfrm>
            <a:off x="6172200" y="3493008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626364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GAINS WHAT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6172200" y="378561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0" name="Text 73"/>
          <p:cNvSpPr txBox="1"/>
          <p:nvPr/>
        </p:nvSpPr>
        <p:spPr>
          <a:xfrm>
            <a:off x="6245352" y="378561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700" dirty="0"/>
          </a:p>
        </p:txBody>
      </p:sp>
      <p:sp>
        <p:nvSpPr>
          <p:cNvPr id="81" name="Text 74"/>
          <p:cNvSpPr txBox="1"/>
          <p:nvPr/>
        </p:nvSpPr>
        <p:spPr>
          <a:xfrm>
            <a:off x="6949440" y="378561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reaches the objective without babysitting; risk appetite is one slider.</a:t>
            </a:r>
            <a:endParaRPr lang="en-US" sz="620" dirty="0"/>
          </a:p>
        </p:txBody>
      </p:sp>
      <p:sp>
        <p:nvSpPr>
          <p:cNvPr id="82" name="Shape 75"/>
          <p:cNvSpPr/>
          <p:nvPr/>
        </p:nvSpPr>
        <p:spPr>
          <a:xfrm>
            <a:off x="6172200" y="410565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6245352" y="410565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maker</a:t>
            </a:r>
            <a:endParaRPr lang="en-US" sz="700" dirty="0"/>
          </a:p>
        </p:txBody>
      </p:sp>
      <p:sp>
        <p:nvSpPr>
          <p:cNvPr id="84" name="Text 77"/>
          <p:cNvSpPr txBox="1"/>
          <p:nvPr/>
        </p:nvSpPr>
        <p:spPr>
          <a:xfrm>
            <a:off x="6949440" y="410565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software module; camera only, no GPS/LiDAR bill of materials.</a:t>
            </a:r>
            <a:endParaRPr lang="en-US" sz="620" dirty="0"/>
          </a:p>
        </p:txBody>
      </p:sp>
      <p:sp>
        <p:nvSpPr>
          <p:cNvPr id="85" name="Shape 78"/>
          <p:cNvSpPr/>
          <p:nvPr/>
        </p:nvSpPr>
        <p:spPr>
          <a:xfrm>
            <a:off x="6172200" y="442569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6" name="Text 79"/>
          <p:cNvSpPr txBox="1"/>
          <p:nvPr/>
        </p:nvSpPr>
        <p:spPr>
          <a:xfrm>
            <a:off x="6245352" y="4425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700" dirty="0"/>
          </a:p>
        </p:txBody>
      </p:sp>
      <p:sp>
        <p:nvSpPr>
          <p:cNvPr id="87" name="Text 80"/>
          <p:cNvSpPr txBox="1"/>
          <p:nvPr/>
        </p:nvSpPr>
        <p:spPr>
          <a:xfrm>
            <a:off x="6949440" y="44256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stuck or damaged vehicles; predictable, explainable behaviour.</a:t>
            </a:r>
            <a:endParaRPr lang="en-US" sz="620" dirty="0"/>
          </a:p>
        </p:txBody>
      </p:sp>
      <p:sp>
        <p:nvSpPr>
          <p:cNvPr id="88" name="Shape 81"/>
          <p:cNvSpPr/>
          <p:nvPr/>
        </p:nvSpPr>
        <p:spPr>
          <a:xfrm>
            <a:off x="228600" y="434340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3200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terrain · right speed · right margin — collision-free Point A → Point B without GPS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LINKS &amp; DEMO</a:t>
            </a:r>
            <a:endParaRPr lang="en-US" sz="1100" dirty="0"/>
          </a:p>
        </p:txBody>
      </p:sp>
      <p:pic>
        <p:nvPicPr>
          <p:cNvPr id="9" name="Image 1" descr="/Users/sandillakiran/SIH-126/code/output/03_unknown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69848"/>
            <a:ext cx="4160520" cy="234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4320" y="34290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dashboard (t = 32 s): an unfamiliar object is flagged UNKNOWN (magenta) in the camera and the map; the risk-aware route (white) leaves the mud belt (orange) that the shortest route (grey) crosses; VO estimate vs ground truth, confidence gauge, governor band and event log.</a:t>
            </a:r>
            <a:endParaRPr lang="en-US" sz="610" dirty="0"/>
          </a:p>
        </p:txBody>
      </p:sp>
      <p:sp>
        <p:nvSpPr>
          <p:cNvPr id="11" name="Shape 7"/>
          <p:cNvSpPr/>
          <p:nvPr/>
        </p:nvSpPr>
        <p:spPr>
          <a:xfrm>
            <a:off x="274320" y="3712464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3712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RESULTS — 15 seeded runs per planner, same world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68496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914400"/>
                <a:gridCol w="914400"/>
              </a:tblGrid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planner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Risk-aware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DRISHTI-Nav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(no collision)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with collision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driving in mud (s, mean)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 detection latency (ms)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replans / run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length (m)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101.8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106.2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617720" y="822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326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74920" y="859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VIDEO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074920" y="1060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 of the working simulation (4 min)  ·  [YouTube link – add before submission]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4617720" y="146304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EAF1FB"/>
          </a:solidFill>
          <a:ln w="9525">
            <a:solidFill>
              <a:srgbClr val="B7C7E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7276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74920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GIT-HUB LINK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507492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repository — simulator, risk map, planner, evaluation harness, deck generator</a:t>
            </a:r>
            <a:endParaRPr lang="en-US" sz="700" dirty="0"/>
          </a:p>
        </p:txBody>
      </p:sp>
      <p:sp>
        <p:nvSpPr>
          <p:cNvPr id="22" name="Text 15">
            <a:hlinkClick r:id="rId5" tooltip=""/>
          </p:cNvPr>
          <p:cNvSpPr txBox="1"/>
          <p:nvPr/>
        </p:nvSpPr>
        <p:spPr>
          <a:xfrm>
            <a:off x="507492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https://github.com/kiransandilla/SIH_PS_126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4617720" y="21214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4617720" y="2359152"/>
            <a:ext cx="42976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Wigness et al., RUGD: A Dataset for Autonomous Navigation in Unstructured Outdoor Environments, IROS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Jiang et al., RELLIS-3D Dataset: Data, Benchmarks and Analysis, arXiv:2011.12954 (2020).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Viswanath et al., OFFSEG: A Semantic Segmentation Framework for Off-Road Driving, 2021.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Guan et al., GANav: Efficient Terrain Segmentation for Robot Navigation, IEEE RA-L 2022.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Min et al., ORFD: A Dataset and Benchmark for Off-Road Freespace Detection (lighting/weather variation).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Liu et al., Energy-based Out-of-distribution Detection, NeurIPS 2020.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Hendrycks et al., Deep Anomaly Detection with Outlier Exposure, ICLR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Lakshminarayanan et al., Simple and Scalable Predictive Uncertainty via Deep Ensembles, NeurIPS 2017.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Frey et al., Fast Traversability Estimation for Wild Visual Navigation, RSS 2023; RoadRunner, ICRA 2024.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Campos et al., ORB-SLAM3, IEEE T-RO 2021;  Labbé &amp; Michaud, RTAB-Map, J. Field Robotics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Macenski et al., Nav2 — ROS 2 Navigation Stack; arXiv:2407.18535 (RGB-D → costmap layer).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Koenig &amp; Likhachev, D* Lite, AAAI 2002;  Fox et al., Dynamic Window Approach, 1997.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Xie et al., SegFormer, NeurIPS 2021;  Poudel et al., Fast-SCNN, BMVC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BEL Problem Statement 26126, Smart India Hackathon 2026.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2026 - PS 26126 - DRISHTI-Nav</dc:title>
  <dc:subject>PptxGenJS Presentation</dc:subject>
  <dc:creator>Team HACKTIDE</dc:creator>
  <cp:lastModifiedBy>Team HACKTIDE</cp:lastModifiedBy>
  <cp:revision>1</cp:revision>
  <dcterms:created xsi:type="dcterms:W3CDTF">2026-09-28T19:27:30Z</dcterms:created>
  <dcterms:modified xsi:type="dcterms:W3CDTF">2026-09-28T19:27:30Z</dcterms:modified>
</cp:coreProperties>
</file>